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Science, Discoveries &amp; Modern Inventions</a:t>
            </a:r>
          </a:p>
          <a:p>
            <a:pPr>
              <a:defRPr sz="1800"/>
            </a:pPr>
            <a:r>
              <a:t>Round 2: Discoveries That Changed The World (2024)</a:t>
            </a:r>
            <a:br/>
            <a:r>
              <a:t>QShala Interschool Quiz Tournament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QUESTION 1</a:t>
            </a:r>
          </a:p>
          <a:p>
            <a:pPr>
              <a:defRPr sz="2200" b="1"/>
            </a:pPr>
            <a:r>
              <a:t>What is the only mammal capable of true, sustained self-powered flight, using elongated webbed finger bones?</a:t>
            </a:r>
          </a:p>
          <a:p/>
          <a:p>
            <a:pPr>
              <a:defRPr sz="1500"/>
            </a:pPr>
            <a:r>
              <a:t>A) Flying Squirrel</a:t>
            </a:r>
          </a:p>
          <a:p>
            <a:pPr>
              <a:defRPr sz="1500"/>
            </a:pPr>
            <a:r>
              <a:t>B) Bat</a:t>
            </a:r>
          </a:p>
          <a:p>
            <a:pPr>
              <a:defRPr sz="1500"/>
            </a:pPr>
            <a:r>
              <a:t>C) Sugar Glider</a:t>
            </a:r>
          </a:p>
          <a:p>
            <a:pPr>
              <a:defRPr sz="1500"/>
            </a:pPr>
            <a:r>
              <a:t>D) Colugo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ANSWER 1</a:t>
            </a:r>
          </a:p>
          <a:p>
            <a:pPr>
              <a:defRPr sz="2400" b="1">
                <a:solidFill>
                  <a:srgbClr val="059669"/>
                </a:solidFill>
              </a:defRPr>
            </a:pPr>
            <a:r>
              <a:t>Answer: The Bat (Order Chiroptera)</a:t>
            </a:r>
          </a:p>
          <a:p>
            <a:pPr>
              <a:defRPr sz="1400" b="1"/>
            </a:pPr>
            <a:r>
              <a:t>Explanation &amp; Context:</a:t>
            </a:r>
          </a:p>
          <a:p>
            <a:pPr>
              <a:defRPr sz="1600"/>
            </a:pPr>
            <a:r>
              <a:t>Unlike flying squirrels which only glide, bats flap their webbed digits to generate true aerodynamic lift and thrust.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QUESTION 2</a:t>
            </a:r>
          </a:p>
          <a:p>
            <a:pPr>
              <a:defRPr sz="2200" b="1"/>
            </a:pPr>
            <a:r>
              <a:t>Which chemical element with atomic number 79 gets its periodic symbol 'Au' from the Latin word for 'glowing dawn'?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ANSWER 2</a:t>
            </a:r>
          </a:p>
          <a:p>
            <a:pPr>
              <a:defRPr sz="2400" b="1">
                <a:solidFill>
                  <a:srgbClr val="059669"/>
                </a:solidFill>
              </a:defRPr>
            </a:pPr>
            <a:r>
              <a:t>Answer: Gold</a:t>
            </a:r>
          </a:p>
          <a:p>
            <a:pPr>
              <a:defRPr sz="1400" b="1"/>
            </a:pPr>
            <a:r>
              <a:t>Explanation &amp; Context:</a:t>
            </a:r>
          </a:p>
          <a:p>
            <a:pPr>
              <a:defRPr sz="1600"/>
            </a:pPr>
            <a:r>
              <a:t>The symbol Au comes from the Latin 'Aurum', meaning shining dawn. Gold does not tarnish or oxidize, making it historically prized.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QUESTION 3</a:t>
            </a:r>
          </a:p>
          <a:p>
            <a:pPr>
              <a:defRPr sz="2200" b="1"/>
            </a:pPr>
            <a:r>
              <a:t>In 1928, what Scottish bacteriologist accidentally discovered the antibiotic penicillin when Penicillium notatum mold contaminated his staphylococcus bacterial culture?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ANSWER 3</a:t>
            </a:r>
          </a:p>
          <a:p>
            <a:pPr>
              <a:defRPr sz="2400" b="1">
                <a:solidFill>
                  <a:srgbClr val="059669"/>
                </a:solidFill>
              </a:defRPr>
            </a:pPr>
            <a:r>
              <a:t>Answer: Alexander Fleming</a:t>
            </a:r>
          </a:p>
          <a:p>
            <a:pPr>
              <a:defRPr sz="1400" b="1"/>
            </a:pPr>
            <a:r>
              <a:t>Explanation &amp; Context:</a:t>
            </a:r>
          </a:p>
          <a:p>
            <a:pPr>
              <a:defRPr sz="1600"/>
            </a:pPr>
            <a:r>
              <a:t>Sir Alexander Fleming noticed a clear halo where bacterial colonies dissolved around the mold, revolutionizing 20th-century medicine and winning the Nobel Prize.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QUESTION 4</a:t>
            </a:r>
          </a:p>
          <a:p>
            <a:pPr>
              <a:defRPr sz="2200" b="1"/>
            </a:pPr>
            <a:r>
              <a:t>What astronomical term describes the point of no return surrounding a black hole from which neither matter nor radiation can escape?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ANSWER 4</a:t>
            </a:r>
          </a:p>
          <a:p>
            <a:pPr>
              <a:defRPr sz="2400" b="1">
                <a:solidFill>
                  <a:srgbClr val="059669"/>
                </a:solidFill>
              </a:defRPr>
            </a:pPr>
            <a:r>
              <a:t>Answer: The Event Horizon</a:t>
            </a:r>
          </a:p>
          <a:p>
            <a:pPr>
              <a:defRPr sz="1400" b="1"/>
            </a:pPr>
            <a:r>
              <a:t>Explanation &amp; Context:</a:t>
            </a:r>
          </a:p>
          <a:p>
            <a:pPr>
              <a:defRPr sz="1600"/>
            </a:pPr>
            <a:r>
              <a:t>At the event horizon, the escape velocity of the gravitational singularity precisely exceeds the speed of light.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QUESTION 5</a:t>
            </a:r>
          </a:p>
          <a:p>
            <a:pPr>
              <a:defRPr sz="2200" b="1"/>
            </a:pPr>
            <a:r>
              <a:t>Which green pigment found inside plant chloroplasts absorbs sunlight to drive the process of photosynthesis, producing oxygen?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ANSWER 5</a:t>
            </a:r>
          </a:p>
          <a:p>
            <a:pPr>
              <a:defRPr sz="2400" b="1">
                <a:solidFill>
                  <a:srgbClr val="059669"/>
                </a:solidFill>
              </a:defRPr>
            </a:pPr>
            <a:r>
              <a:t>Answer: Chlorophyll</a:t>
            </a:r>
          </a:p>
          <a:p>
            <a:pPr>
              <a:defRPr sz="1400" b="1"/>
            </a:pPr>
            <a:r>
              <a:t>Explanation &amp; Context:</a:t>
            </a:r>
          </a:p>
          <a:p>
            <a:pPr>
              <a:defRPr sz="1600"/>
            </a:pPr>
            <a:r>
              <a:t>Chlorophyll absorbs blue and red wavelengths of light while reflecting green light, which gives leaves and algae their characteristic color.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QUESTION 6</a:t>
            </a:r>
          </a:p>
          <a:p>
            <a:pPr>
              <a:defRPr sz="2200" b="1"/>
            </a:pPr>
            <a:r>
              <a:t>What revolutionary computing machine was invented by Charles Babbage in 1837 and is recognized as the world's first general-purpose mechanical computer design?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ANSWER 6</a:t>
            </a:r>
          </a:p>
          <a:p>
            <a:pPr>
              <a:defRPr sz="2400" b="1">
                <a:solidFill>
                  <a:srgbClr val="059669"/>
                </a:solidFill>
              </a:defRPr>
            </a:pPr>
            <a:r>
              <a:t>Answer: The Analytical Engine</a:t>
            </a:r>
          </a:p>
          <a:p>
            <a:pPr>
              <a:defRPr sz="1400" b="1"/>
            </a:pPr>
            <a:r>
              <a:t>Explanation &amp; Context:</a:t>
            </a:r>
          </a:p>
          <a:p>
            <a:pPr>
              <a:defRPr sz="1600"/>
            </a:pPr>
            <a:r>
              <a:t>Charles Babbage designed the Analytical Engine featuring an arithmetic logic unit and conditional branching, with Ada Lovelace writing the first algorithm for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QUESTION 7</a:t>
            </a:r>
          </a:p>
          <a:p>
            <a:pPr>
              <a:defRPr sz="2200" b="1"/>
            </a:pPr>
            <a:r>
              <a:t>What natural geological phenomenon is measured using the Richter and Moment Magnitude scales caused by the sudden release of energy in Earth's tectonic crust?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ANSWER 7</a:t>
            </a:r>
          </a:p>
          <a:p>
            <a:pPr>
              <a:defRPr sz="2400" b="1">
                <a:solidFill>
                  <a:srgbClr val="059669"/>
                </a:solidFill>
              </a:defRPr>
            </a:pPr>
            <a:r>
              <a:t>Answer: Earthquake</a:t>
            </a:r>
          </a:p>
          <a:p>
            <a:pPr>
              <a:defRPr sz="1400" b="1"/>
            </a:pPr>
            <a:r>
              <a:t>Explanation &amp; Context:</a:t>
            </a:r>
          </a:p>
          <a:p>
            <a:pPr>
              <a:defRPr sz="1600"/>
            </a:pPr>
            <a:r>
              <a:t>Earthquakes occur when tectonic stress exceeds the friction holding fault lines together, releasing shockwaves known as seismic P and S waves.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QUESTION 8</a:t>
            </a:r>
          </a:p>
          <a:p>
            <a:pPr>
              <a:defRPr sz="2200" b="1"/>
            </a:pPr>
            <a:r>
              <a:t>What is the powerhouse organelle within eukaryotic cells responsible for producing energy in the form of Adenosine Triphosphate (ATP)?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ANSWER 8</a:t>
            </a:r>
          </a:p>
          <a:p>
            <a:pPr>
              <a:defRPr sz="2400" b="1">
                <a:solidFill>
                  <a:srgbClr val="059669"/>
                </a:solidFill>
              </a:defRPr>
            </a:pPr>
            <a:r>
              <a:t>Answer: Mitochondria</a:t>
            </a:r>
          </a:p>
          <a:p>
            <a:pPr>
              <a:defRPr sz="1400" b="1"/>
            </a:pPr>
            <a:r>
              <a:t>Explanation &amp; Context:</a:t>
            </a:r>
          </a:p>
          <a:p>
            <a:pPr>
              <a:defRPr sz="1600"/>
            </a:pPr>
            <a:r>
              <a:t>Mitochondria generate over 90 percent of the chemical energy our cells need to survive through cellular respiration.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