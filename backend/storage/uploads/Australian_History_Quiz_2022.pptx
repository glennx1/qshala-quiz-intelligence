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1828800"/>
          </a:xfrm>
          <a:prstGeom prst="rect">
            <a:avLst/>
          </a:prstGeom>
          <a:noFill/>
        </p:spPr>
        <p:txBody>
          <a:bodyPr wrap="none">
            <a:spAutoFit/>
          </a:bodyPr>
          <a:lstStyle/>
          <a:p>
            <a:pPr>
              <a:defRPr sz="3600" b="1">
                <a:solidFill>
                  <a:srgbClr val="142850"/>
                </a:solidFill>
              </a:defRPr>
            </a:pPr>
            <a:r>
              <a:t>QShala Quest: Australian History &amp; Explorers</a:t>
            </a:r>
          </a:p>
          <a:p>
            <a:pPr>
              <a:defRPr sz="2000">
                <a:solidFill>
                  <a:srgbClr val="646464"/>
                </a:solidFill>
              </a:defRPr>
            </a:pPr>
            <a:r>
              <a:t>Curated Tournament Round for Grades 3 to 5 (Year: 2022)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1</a:t>
            </a:r>
          </a:p>
          <a:p>
            <a:pPr>
              <a:defRPr sz="2400" b="1">
                <a:solidFill>
                  <a:srgbClr val="0F172A"/>
                </a:solidFill>
              </a:defRPr>
            </a:pPr>
            <a:r>
              <a:t>Who was the British naval officer and navigator who mapped the eastern coastline of Australia aboard HMS Endeavour in 1770?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1</a:t>
            </a:r>
          </a:p>
          <a:p>
            <a:pPr>
              <a:defRPr sz="2600" b="1">
                <a:solidFill>
                  <a:srgbClr val="059669"/>
                </a:solidFill>
              </a:defRPr>
            </a:pPr>
            <a:r>
              <a:t>Answer: Captain James Cook</a:t>
            </a:r>
          </a:p>
          <a:p/>
          <a:p>
            <a:pPr>
              <a:defRPr sz="1500" b="1">
                <a:solidFill>
                  <a:srgbClr val="475569"/>
                </a:solidFill>
              </a:defRPr>
            </a:pPr>
            <a:r>
              <a:t>Explanation &amp; Context:</a:t>
            </a:r>
          </a:p>
          <a:p>
            <a:pPr>
              <a:defRPr sz="1700">
                <a:solidFill>
                  <a:srgbClr val="334155"/>
                </a:solidFill>
              </a:defRPr>
            </a:pPr>
            <a:r>
              <a:t>Captain James Cook charted Botany Bay and the east coast in 1770, claiming New South Wales for Britain aboard HMS Endeavour. His voyage provided the detailed charts that led to European settlement 18 years later.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2</a:t>
            </a:r>
          </a:p>
          <a:p>
            <a:pPr>
              <a:defRPr sz="2400" b="1">
                <a:solidFill>
                  <a:srgbClr val="0F172A"/>
                </a:solidFill>
              </a:defRPr>
            </a:pPr>
            <a:r>
              <a:t>What is the historic name given to the convoy of 11 British ships that arrived in Sydney Cove in January 1788 to establish the first European colony?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2</a:t>
            </a:r>
          </a:p>
          <a:p>
            <a:pPr>
              <a:defRPr sz="2600" b="1">
                <a:solidFill>
                  <a:srgbClr val="059669"/>
                </a:solidFill>
              </a:defRPr>
            </a:pPr>
            <a:r>
              <a:t>Answer: The First Fleet</a:t>
            </a:r>
          </a:p>
          <a:p/>
          <a:p>
            <a:pPr>
              <a:defRPr sz="1500" b="1">
                <a:solidFill>
                  <a:srgbClr val="475569"/>
                </a:solidFill>
              </a:defRPr>
            </a:pPr>
            <a:r>
              <a:t>Explanation &amp; Context:</a:t>
            </a:r>
          </a:p>
          <a:p>
            <a:pPr>
              <a:defRPr sz="1700">
                <a:solidFill>
                  <a:srgbClr val="334155"/>
                </a:solidFill>
              </a:defRPr>
            </a:pPr>
            <a:r>
              <a:t>Commanded by Captain Arthur Phillip, the First Fleet carried over 1,400 convicts, marines, and officials across 15,000 miles of ocean over 250 days, arriving on 26 January 1788.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3</a:t>
            </a:r>
          </a:p>
          <a:p>
            <a:pPr>
              <a:defRPr sz="2400" b="1">
                <a:solidFill>
                  <a:srgbClr val="0F172A"/>
                </a:solidFill>
              </a:defRPr>
            </a:pPr>
            <a:r>
              <a:t>For tens of thousands of years before European arrival, Aboriginal Australians shared oral sacred creation stories known in English by what name?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3</a:t>
            </a:r>
          </a:p>
          <a:p>
            <a:pPr>
              <a:defRPr sz="2600" b="1">
                <a:solidFill>
                  <a:srgbClr val="059669"/>
                </a:solidFill>
              </a:defRPr>
            </a:pPr>
            <a:r>
              <a:t>Answer: The Dreamtime (Jukurrpa)</a:t>
            </a:r>
          </a:p>
          <a:p/>
          <a:p>
            <a:pPr>
              <a:defRPr sz="1500" b="1">
                <a:solidFill>
                  <a:srgbClr val="475569"/>
                </a:solidFill>
              </a:defRPr>
            </a:pPr>
            <a:r>
              <a:t>Explanation &amp; Context:</a:t>
            </a:r>
          </a:p>
          <a:p>
            <a:pPr>
              <a:defRPr sz="1700">
                <a:solidFill>
                  <a:srgbClr val="334155"/>
                </a:solidFill>
              </a:defRPr>
            </a:pPr>
            <a:r>
              <a:t>The Dreamtime encompasses the ancient spiritual, cultural, and geographic history of the world created by Ancestral Beings. These sacred stories and songlines map out laws, traditions, and geography across Australia.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4</a:t>
            </a:r>
          </a:p>
          <a:p>
            <a:pPr>
              <a:defRPr sz="2400" b="1">
                <a:solidFill>
                  <a:srgbClr val="0F172A"/>
                </a:solidFill>
              </a:defRPr>
            </a:pPr>
            <a:r>
              <a:t>On January 1, 1901, the six separate British colonies federated to form the Commonwealth of Australia. Who served as the nation's inaugural Prime Minister?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4</a:t>
            </a:r>
          </a:p>
          <a:p>
            <a:pPr>
              <a:defRPr sz="2600" b="1">
                <a:solidFill>
                  <a:srgbClr val="059669"/>
                </a:solidFill>
              </a:defRPr>
            </a:pPr>
            <a:r>
              <a:t>Answer: Sir Edmund Barton</a:t>
            </a:r>
          </a:p>
          <a:p/>
          <a:p>
            <a:pPr>
              <a:defRPr sz="1500" b="1">
                <a:solidFill>
                  <a:srgbClr val="475569"/>
                </a:solidFill>
              </a:defRPr>
            </a:pPr>
            <a:r>
              <a:t>Explanation &amp; Context:</a:t>
            </a:r>
          </a:p>
          <a:p>
            <a:pPr>
              <a:defRPr sz="1700">
                <a:solidFill>
                  <a:srgbClr val="334155"/>
                </a:solidFill>
              </a:defRPr>
            </a:pPr>
            <a:r>
              <a:t>Sir Edmund Barton was sworn in as Australia's inaugural Prime Minister at Centennial Park, Sydney on New Year's Day 1901. He later resigned to become one of the founding justices of the High Court of Australia.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5</a:t>
            </a:r>
          </a:p>
          <a:p>
            <a:pPr>
              <a:defRPr sz="2400" b="1">
                <a:solidFill>
                  <a:srgbClr val="0F172A"/>
                </a:solidFill>
              </a:defRPr>
            </a:pPr>
            <a:r>
              <a:t>Why was the inland planned city of Canberra chosen as Australia's federal capital in 1913 instead of Sydney or Melbourne?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5</a:t>
            </a:r>
          </a:p>
          <a:p>
            <a:pPr>
              <a:defRPr sz="2600" b="1">
                <a:solidFill>
                  <a:srgbClr val="059669"/>
                </a:solidFill>
              </a:defRPr>
            </a:pPr>
            <a:r>
              <a:t>Answer: As a historic compromise between rival cities Sydney and Melbourne</a:t>
            </a:r>
          </a:p>
          <a:p/>
          <a:p>
            <a:pPr>
              <a:defRPr sz="1500" b="1">
                <a:solidFill>
                  <a:srgbClr val="475569"/>
                </a:solidFill>
              </a:defRPr>
            </a:pPr>
            <a:r>
              <a:t>Explanation &amp; Context:</a:t>
            </a:r>
          </a:p>
          <a:p>
            <a:pPr>
              <a:defRPr sz="1700">
                <a:solidFill>
                  <a:srgbClr val="334155"/>
                </a:solidFill>
              </a:defRPr>
            </a:pPr>
            <a:r>
              <a:t>Sydney and Melbourne fiercely contested which should be the national capital. Section 125 of the Australian Constitution established that the capital must be in New South Wales but at least 100 miles from Sydney, leading to Walter Burley Griffin's design of Canberra.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6</a:t>
            </a:r>
          </a:p>
          <a:p>
            <a:pPr>
              <a:defRPr sz="2400" b="1">
                <a:solidFill>
                  <a:srgbClr val="0F172A"/>
                </a:solidFill>
              </a:defRPr>
            </a:pPr>
            <a:r>
              <a:t>Which legendary Australian bushranger and folk figure wore 44-kilogram homemade iron plate armor during his final standoff in Glenrowan in 1880?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6</a:t>
            </a:r>
          </a:p>
          <a:p>
            <a:pPr>
              <a:defRPr sz="2600" b="1">
                <a:solidFill>
                  <a:srgbClr val="059669"/>
                </a:solidFill>
              </a:defRPr>
            </a:pPr>
            <a:r>
              <a:t>Answer: Ned Kelly</a:t>
            </a:r>
          </a:p>
          <a:p/>
          <a:p>
            <a:pPr>
              <a:defRPr sz="1500" b="1">
                <a:solidFill>
                  <a:srgbClr val="475569"/>
                </a:solidFill>
              </a:defRPr>
            </a:pPr>
            <a:r>
              <a:t>Explanation &amp; Context:</a:t>
            </a:r>
          </a:p>
          <a:p>
            <a:pPr>
              <a:defRPr sz="1700">
                <a:solidFill>
                  <a:srgbClr val="334155"/>
                </a:solidFill>
              </a:defRPr>
            </a:pPr>
            <a:r>
              <a:t>Ned Kelly and the Kelly Gang forged heavy protective suits from ploughshares before their famous 1880 siege at Glenrowan. His iconic helmet and suit are now preserved at the State Library of Victoria.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7</a:t>
            </a:r>
          </a:p>
          <a:p>
            <a:pPr>
              <a:defRPr sz="2400" b="1">
                <a:solidFill>
                  <a:srgbClr val="0F172A"/>
                </a:solidFill>
              </a:defRPr>
            </a:pPr>
            <a:r>
              <a:t>In 1854, gold prospectors in Ballarat, Victoria rose up against oppressive colonial mining licenses in which pivotal rebellion for democratic rights?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7</a:t>
            </a:r>
          </a:p>
          <a:p>
            <a:pPr>
              <a:defRPr sz="2600" b="1">
                <a:solidFill>
                  <a:srgbClr val="059669"/>
                </a:solidFill>
              </a:defRPr>
            </a:pPr>
            <a:r>
              <a:t>Answer: The Eureka Stockade</a:t>
            </a:r>
          </a:p>
          <a:p/>
          <a:p>
            <a:pPr>
              <a:defRPr sz="1500" b="1">
                <a:solidFill>
                  <a:srgbClr val="475569"/>
                </a:solidFill>
              </a:defRPr>
            </a:pPr>
            <a:r>
              <a:t>Explanation &amp; Context:</a:t>
            </a:r>
          </a:p>
          <a:p>
            <a:pPr>
              <a:defRPr sz="1700">
                <a:solidFill>
                  <a:srgbClr val="334155"/>
                </a:solidFill>
              </a:defRPr>
            </a:pPr>
            <a:r>
              <a:t>The Eureka Stockade was a pivotal rebellion where miners swore allegiance under the Southern Cross flag against taxation without representation. It is widely regarded as the birthplace of Australian democracy.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8</a:t>
            </a:r>
          </a:p>
          <a:p>
            <a:pPr>
              <a:defRPr sz="2400" b="1">
                <a:solidFill>
                  <a:srgbClr val="0F172A"/>
                </a:solidFill>
              </a:defRPr>
            </a:pPr>
            <a:r>
              <a:t>Which aerodynamic wooden hunting and ceremonial tool was developed by Indigenous Australians over tens of thousands of years and is world-famous for returning when thrown?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8</a:t>
            </a:r>
          </a:p>
          <a:p>
            <a:pPr>
              <a:defRPr sz="2600" b="1">
                <a:solidFill>
                  <a:srgbClr val="059669"/>
                </a:solidFill>
              </a:defRPr>
            </a:pPr>
            <a:r>
              <a:t>Answer: Boomerang</a:t>
            </a:r>
          </a:p>
          <a:p/>
          <a:p>
            <a:pPr>
              <a:defRPr sz="1500" b="1">
                <a:solidFill>
                  <a:srgbClr val="475569"/>
                </a:solidFill>
              </a:defRPr>
            </a:pPr>
            <a:r>
              <a:t>Explanation &amp; Context:</a:t>
            </a:r>
          </a:p>
          <a:p>
            <a:pPr>
              <a:defRPr sz="1700">
                <a:solidFill>
                  <a:srgbClr val="334155"/>
                </a:solidFill>
              </a:defRPr>
            </a:pPr>
            <a:r>
              <a:t>Indigenous Australians mastered sophisticated principles of aerodynamics long before modern flight, designing returning boomerangs for bird decoy hunting, music, and ceremonies.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9</a:t>
            </a:r>
          </a:p>
          <a:p>
            <a:pPr>
              <a:defRPr sz="2400" b="1">
                <a:solidFill>
                  <a:srgbClr val="0F172A"/>
                </a:solidFill>
              </a:defRPr>
            </a:pPr>
            <a:r>
              <a:t>What iconic sacred sandstone monolith in the Northern Territory desert was officially handed back to its traditional Anangu owners in October 1985?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9</a:t>
            </a:r>
          </a:p>
          <a:p>
            <a:pPr>
              <a:defRPr sz="2600" b="1">
                <a:solidFill>
                  <a:srgbClr val="059669"/>
                </a:solidFill>
              </a:defRPr>
            </a:pPr>
            <a:r>
              <a:t>Answer: Uluru (Ayers Rock)</a:t>
            </a:r>
          </a:p>
          <a:p/>
          <a:p>
            <a:pPr>
              <a:defRPr sz="1500" b="1">
                <a:solidFill>
                  <a:srgbClr val="475569"/>
                </a:solidFill>
              </a:defRPr>
            </a:pPr>
            <a:r>
              <a:t>Explanation &amp; Context:</a:t>
            </a:r>
          </a:p>
          <a:p>
            <a:pPr>
              <a:defRPr sz="1700">
                <a:solidFill>
                  <a:srgbClr val="334155"/>
                </a:solidFill>
              </a:defRPr>
            </a:pPr>
            <a:r>
              <a:t>Uluru is deeply sacred to the Anangu people. In a historic handback ceremony on 26 October 1985, the Australian Governor-General presented the title deeds back to the traditional owners.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64748B"/>
                </a:solidFill>
              </a:defRPr>
            </a:pPr>
            <a:r>
              <a:t>QUESTION 10</a:t>
            </a:r>
          </a:p>
          <a:p>
            <a:pPr>
              <a:defRPr sz="2400" b="1">
                <a:solidFill>
                  <a:srgbClr val="0F172A"/>
                </a:solidFill>
              </a:defRPr>
            </a:pPr>
            <a:r>
              <a:t>In 1902, the Commonwealth Franchise Act made Australia one of the earliest modern nations to grant which democratic right to women nationally?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3657600"/>
          </a:xfrm>
          <a:prstGeom prst="rect">
            <a:avLst/>
          </a:prstGeom>
          <a:noFill/>
        </p:spPr>
        <p:txBody>
          <a:bodyPr wrap="square">
            <a:spAutoFit/>
          </a:bodyPr>
          <a:lstStyle/>
          <a:p>
            <a:pPr>
              <a:defRPr sz="1400" b="1">
                <a:solidFill>
                  <a:srgbClr val="10B981"/>
                </a:solidFill>
              </a:defRPr>
            </a:pPr>
            <a:r>
              <a:t>ANSWER 10</a:t>
            </a:r>
          </a:p>
          <a:p>
            <a:pPr>
              <a:defRPr sz="2600" b="1">
                <a:solidFill>
                  <a:srgbClr val="059669"/>
                </a:solidFill>
              </a:defRPr>
            </a:pPr>
            <a:r>
              <a:t>Answer: The right to vote and stand for federal parliament</a:t>
            </a:r>
          </a:p>
          <a:p/>
          <a:p>
            <a:pPr>
              <a:defRPr sz="1500" b="1">
                <a:solidFill>
                  <a:srgbClr val="475569"/>
                </a:solidFill>
              </a:defRPr>
            </a:pPr>
            <a:r>
              <a:t>Explanation &amp; Context:</a:t>
            </a:r>
          </a:p>
          <a:p>
            <a:pPr>
              <a:defRPr sz="1700">
                <a:solidFill>
                  <a:srgbClr val="334155"/>
                </a:solidFill>
              </a:defRPr>
            </a:pPr>
            <a:r>
              <a:t>Australia became one of the first countries in the world where women won both the right to vote in federal elections and to stand for federal parliament in 1902, following South Australia's pioneering 1894 legislation.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